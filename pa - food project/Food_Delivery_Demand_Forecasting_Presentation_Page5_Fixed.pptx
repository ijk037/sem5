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594360"/>
            <a:ext cx="2011680" cy="201168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2103120"/>
            <a:ext cx="914400" cy="914400"/>
          </a:xfrm>
          <a:prstGeom prst="ellipse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52560" y="3017520"/>
            <a:ext cx="1325880" cy="132588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4114800"/>
            <a:ext cx="548640" cy="54864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77724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PREDICTIVE ANALYTICS •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07592"/>
            <a:ext cx="7863840" cy="1645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000" dirty="0">
                <a:latin typeface="Aptos"/>
              </a:rPr>
              <a:t>Food Delivery</a:t>
            </a:r>
            <a:br>
              <a:rPr sz="4400" dirty="0"/>
            </a:br>
            <a:r>
              <a:rPr sz="4000" dirty="0">
                <a:latin typeface="Aptos"/>
              </a:rPr>
              <a:t>Demand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7223760" cy="6858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0">
                <a:solidFill>
                  <a:srgbClr val="CDDAE7"/>
                </a:solidFill>
                <a:latin typeface="Aptos"/>
              </a:defRPr>
            </a:pPr>
            <a:r>
              <a:rPr sz="1600">
                <a:latin typeface="Aptos"/>
              </a:rPr>
              <a:t>Dual-Tier Hierarchical Demand Forecasting in Large-Scale Kitchen Logistics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160520"/>
            <a:ext cx="91440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4462272"/>
            <a:ext cx="694944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>
                <a:latin typeface="Aptos"/>
              </a:rPr>
              <a:t>Ishpreet Kaur  •  2427030110</a:t>
            </a:r>
            <a:br/>
            <a:r>
              <a:rPr sz="1600">
                <a:latin typeface="Aptos"/>
              </a:rPr>
              <a:t>Aarushi Jain  •  2427030105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053328"/>
            <a:ext cx="7315200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0">
                <a:solidFill>
                  <a:srgbClr val="ADBCCC"/>
                </a:solidFill>
                <a:latin typeface="Aptos"/>
              </a:defRPr>
            </a:pPr>
            <a:r>
              <a:rPr sz="900">
                <a:latin typeface="Aptos"/>
              </a:rPr>
              <a:t>Department of Computer Science &amp; Engineering  |  Section 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01 • 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 dirty="0">
                <a:latin typeface="Aptos"/>
              </a:rPr>
              <a:t>Why forecast food delivery demand?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789920" cy="56692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100" b="1">
                <a:solidFill>
                  <a:srgbClr val="122036"/>
                </a:solidFill>
                <a:latin typeface="Aptos"/>
              </a:defRPr>
            </a:pPr>
            <a:r>
              <a:rPr sz="1550">
                <a:latin typeface="Aptos"/>
              </a:rPr>
              <a:t>Kitchen operations face two costly forecasting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73152" cy="1828800"/>
          </a:xfrm>
          <a:prstGeom prst="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86584"/>
            <a:ext cx="491032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OVER-PREDICTION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70632"/>
            <a:ext cx="4892040" cy="12070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Excess ingredients → spoilage, waste-disposal overhead and reduced margins.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2402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2240280"/>
            <a:ext cx="73152" cy="1828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2386584"/>
            <a:ext cx="491032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UNDER-PREDICTION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770632"/>
            <a:ext cx="4892040" cy="12070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Stock-outs → cancelled orders, preparation delays and courier waiting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10607040" cy="7315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7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Demand is non-stationary: recent order momentum, discounts, app promotions and center-level differences can shift volume quickly.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009691"/>
                </a:solidFill>
                <a:latin typeface="Aptos"/>
              </a:defRPr>
            </a:pPr>
            <a:r>
              <a:rPr sz="1125">
                <a:latin typeface="Aptos"/>
              </a:rPr>
              <a:t>Project goal: turn historical order telemetry into practical procurement and capacity-planning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02 •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>
                <a:latin typeface="Aptos"/>
              </a:rPr>
              <a:t>Project aim &amp; 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66928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1">
                <a:solidFill>
                  <a:srgbClr val="009691"/>
                </a:solidFill>
                <a:latin typeface="Aptos"/>
              </a:defRPr>
            </a:pPr>
            <a:r>
              <a:rPr sz="1125"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2194560" cy="34747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50">
                <a:latin typeface="Aptos"/>
              </a:rPr>
              <a:t>Explore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75895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375">
                <a:latin typeface="Aptos"/>
              </a:rPr>
              <a:t>Profile order distributions, price patterns and promotional lift.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075688"/>
            <a:ext cx="9509760" cy="10972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50008"/>
            <a:ext cx="566928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1">
                <a:solidFill>
                  <a:srgbClr val="009691"/>
                </a:solidFill>
                <a:latin typeface="Aptos"/>
              </a:defRPr>
            </a:pPr>
            <a:r>
              <a:rPr sz="1125"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50008"/>
            <a:ext cx="2194560" cy="34747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50">
                <a:latin typeface="Aptos"/>
              </a:rPr>
              <a:t>Engineer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50008"/>
            <a:ext cx="75895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375">
                <a:latin typeface="Aptos"/>
              </a:rPr>
              <a:t>Build lag, rolling-average, discount and categorical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008376"/>
            <a:ext cx="9509760" cy="10972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282696"/>
            <a:ext cx="566928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1">
                <a:solidFill>
                  <a:srgbClr val="009691"/>
                </a:solidFill>
                <a:latin typeface="Aptos"/>
              </a:defRPr>
            </a:pPr>
            <a:r>
              <a:rPr sz="1125"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82696"/>
            <a:ext cx="2194560" cy="34747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50">
                <a:latin typeface="Aptos"/>
              </a:rPr>
              <a:t>Benchmark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82696"/>
            <a:ext cx="75895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375">
                <a:latin typeface="Aptos"/>
              </a:rPr>
              <a:t>Compare LightGBM, Ridge, Poisson GLM and simple baselines.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941063"/>
            <a:ext cx="9509760" cy="10972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215384"/>
            <a:ext cx="566928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1">
                <a:solidFill>
                  <a:srgbClr val="009691"/>
                </a:solidFill>
                <a:latin typeface="Aptos"/>
              </a:defRPr>
            </a:pPr>
            <a:r>
              <a:rPr sz="1125"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15384"/>
            <a:ext cx="2194560" cy="34747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50">
                <a:latin typeface="Aptos"/>
              </a:rPr>
              <a:t>Forecast the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215384"/>
            <a:ext cx="75895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375">
                <a:latin typeface="Aptos"/>
              </a:rPr>
              <a:t>Use seasonal time-series modelling for aggregate demand.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4873752"/>
            <a:ext cx="9509760" cy="10972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148072"/>
            <a:ext cx="566928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1">
                <a:solidFill>
                  <a:srgbClr val="009691"/>
                </a:solidFill>
                <a:latin typeface="Aptos"/>
              </a:defRPr>
            </a:pPr>
            <a:r>
              <a:rPr sz="1125"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48072"/>
            <a:ext cx="2194560" cy="34747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50">
                <a:latin typeface="Aptos"/>
              </a:rPr>
              <a:t>Support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48072"/>
            <a:ext cx="75895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375">
                <a:latin typeface="Aptos"/>
              </a:rPr>
              <a:t>Connect forecasts to FoodPulse AI operational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03 • DATA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3200">
                <a:latin typeface="Aptos"/>
              </a:rP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456,548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0312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transaction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61848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145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10312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historical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61848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10312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fulfillment centers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08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61848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10312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meal offerings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074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063240"/>
            <a:ext cx="73152" cy="21488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209544"/>
            <a:ext cx="47274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TRANSACTION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593592"/>
            <a:ext cx="4709159" cy="152704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Weekly orders by center–meal pair; prices, promotions and target order 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063240"/>
            <a:ext cx="5074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063240"/>
            <a:ext cx="73152" cy="214884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209544"/>
            <a:ext cx="47274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METADATA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593592"/>
            <a:ext cx="4709159" cy="152704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Center type, city/region, operational area; meal category and cuisine.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69848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677484"/>
                </a:solidFill>
                <a:latin typeface="Aptos"/>
              </a:defRPr>
            </a:pPr>
            <a:r>
              <a:rPr sz="1125">
                <a:latin typeface="Aptos"/>
              </a:rPr>
              <a:t>Coverage: 51 Indian cities • 14 meal categories • 4 cuisines (Indian, Continental, Italian, Thai)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04 • 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>
                <a:latin typeface="Aptos"/>
              </a:rPr>
              <a:t>Exploratory data analysis: what stands out?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1729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HIGHLY SKEWED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3154680" cy="9784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Mean: 261.87 • Median: 118</a:t>
            </a:r>
            <a:br/>
            <a:r>
              <a:rPr sz="1600">
                <a:latin typeface="Aptos"/>
              </a:rPr>
              <a:t>Maximum: 24,299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60020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9784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377">
                <a:latin typeface="Aptos"/>
              </a:rPr>
              <a:t>Report records zero missing values and zero duplicate primary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6002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563624"/>
            <a:ext cx="31729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PROMOTION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47672"/>
            <a:ext cx="3154680" cy="9784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247">
                <a:latin typeface="Aptos"/>
              </a:rPr>
              <a:t>Emailer + homepage featuring is associated with &gt;30.8% median demand lift.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4937760" cy="38404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000" b="1">
                <a:solidFill>
                  <a:srgbClr val="122036"/>
                </a:solidFill>
                <a:latin typeface="Aptos"/>
              </a:defRPr>
            </a:pPr>
            <a:r>
              <a:rPr sz="1250">
                <a:latin typeface="Aptos"/>
              </a:rPr>
              <a:t>Why transform the target?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4846320" cy="10515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600" b="0">
                <a:solidFill>
                  <a:srgbClr val="263141"/>
                </a:solidFill>
                <a:latin typeface="Aptos"/>
              </a:defRPr>
            </a:pPr>
            <a:r>
              <a:rPr sz="1563">
                <a:latin typeface="Aptos"/>
              </a:rPr>
              <a:t>log1p(num_orders) reduces the impact of extreme values and stabilizes the scale used for tree 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401568"/>
            <a:ext cx="521208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t>Raw vs. log-transformed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822191"/>
            <a:ext cx="21945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4370B1"/>
                </a:solidFill>
                <a:latin typeface="Aptos"/>
              </a:defRPr>
            </a:pPr>
            <a:r>
              <a:t>Raw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822191"/>
            <a:ext cx="24688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09691"/>
                </a:solidFill>
                <a:latin typeface="Aptos"/>
              </a:defRPr>
            </a:pPr>
            <a:r>
              <a:t>After log1p transform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440680"/>
            <a:ext cx="498348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46520" y="4480560"/>
            <a:ext cx="201168" cy="96012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29983" y="4690872"/>
            <a:ext cx="201168" cy="749808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13448" y="4873752"/>
            <a:ext cx="201168" cy="566928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6912" y="5056632"/>
            <a:ext cx="201168" cy="384048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80375" y="5212080"/>
            <a:ext cx="201168" cy="22860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63840" y="5321808"/>
            <a:ext cx="201168" cy="118872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15400" y="5212080"/>
            <a:ext cx="201168" cy="2286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98864" y="5001768"/>
            <a:ext cx="201168" cy="43891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82328" y="4782312"/>
            <a:ext cx="201168" cy="65836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65792" y="4617720"/>
            <a:ext cx="201168" cy="82296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049256" y="4782312"/>
            <a:ext cx="201168" cy="65836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332720" y="5001768"/>
            <a:ext cx="201168" cy="43891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16184" y="5212080"/>
            <a:ext cx="201168" cy="2286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5559552"/>
            <a:ext cx="21488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0">
                <a:solidFill>
                  <a:srgbClr val="677484"/>
                </a:solidFill>
                <a:latin typeface="Aptos"/>
              </a:defRPr>
            </a:pPr>
            <a:r>
              <a:t>Strong right skew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559552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0">
                <a:solidFill>
                  <a:srgbClr val="677484"/>
                </a:solidFill>
                <a:latin typeface="Aptos"/>
              </a:defRPr>
            </a:pPr>
            <a:r>
              <a:t>Less skewed on log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925312"/>
            <a:ext cx="52578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677484"/>
                </a:solidFill>
                <a:latin typeface="Aptos"/>
              </a:defRPr>
            </a:pPr>
            <a:r>
              <a:t>Schematic illustration; see report EDA for empirical distributions.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05 •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>
                <a:latin typeface="Aptos"/>
              </a:rPr>
              <a:t>Methodology: leakage-aware modelling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2466"/>
            <a:ext cx="1051560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1">
                <a:solidFill>
                  <a:srgbClr val="122036"/>
                </a:solidFill>
                <a:latin typeface="Aptos"/>
              </a:defRPr>
            </a:pPr>
            <a:r>
              <a:rPr sz="1200" dirty="0">
                <a:latin typeface="Aptos"/>
              </a:rPr>
              <a:t>Chronological holdout keeps future weeks out of 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8589053" cy="6217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57733" y="2148840"/>
            <a:ext cx="1789386" cy="6217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95144"/>
            <a:ext cx="8223293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900">
                <a:latin typeface="Aptos"/>
              </a:rPr>
              <a:t>TRAIN • Weeks 1–120 • 374,398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0885" y="2295144"/>
            <a:ext cx="1643082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900">
                <a:latin typeface="Aptos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7733" y="3063240"/>
            <a:ext cx="1789386" cy="4572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200" b="1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Weeks 121–145</a:t>
            </a:r>
            <a:br/>
            <a:r>
              <a:rPr sz="900">
                <a:latin typeface="Aptos"/>
              </a:rPr>
              <a:t>82,150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73152" cy="150876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4"/>
            <a:ext cx="299008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TEMPORAL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325112"/>
            <a:ext cx="2971800" cy="88696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Previous-week orders; trailing 4-week mean.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7947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3794760"/>
            <a:ext cx="73152" cy="150876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3941064"/>
            <a:ext cx="299008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COMMERCIAL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325112"/>
            <a:ext cx="2971800" cy="88696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0">
                <a:solidFill>
                  <a:srgbClr val="263141"/>
                </a:solidFill>
                <a:latin typeface="Aptos"/>
              </a:defRPr>
            </a:pPr>
            <a:r>
              <a:rPr sz="1515">
                <a:latin typeface="Aptos"/>
              </a:rPr>
              <a:t>Relative discount ratio; emailer and homepage flags.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947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794760"/>
            <a:ext cx="73152" cy="15087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3941064"/>
            <a:ext cx="299008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325112"/>
            <a:ext cx="2971800" cy="88696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0">
                <a:solidFill>
                  <a:srgbClr val="263141"/>
                </a:solidFill>
                <a:latin typeface="Aptos"/>
              </a:defRPr>
            </a:pPr>
            <a:r>
              <a:rPr sz="1382">
                <a:latin typeface="Aptos"/>
              </a:rPr>
              <a:t>One-hot cuisine, category and center type; 24 regressors.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009691"/>
                </a:solidFill>
                <a:latin typeface="Aptos"/>
              </a:defRPr>
            </a:pPr>
            <a:r>
              <a:rPr sz="1000">
                <a:latin typeface="Aptos"/>
              </a:rPr>
              <a:t>Rolling statistics use shifted past observations to prevent look-ahead leakage.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06 •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 dirty="0" err="1">
                <a:latin typeface="Aptos"/>
              </a:rPr>
              <a:t>FoodPulse</a:t>
            </a:r>
            <a:r>
              <a:rPr sz="2800" dirty="0">
                <a:latin typeface="Aptos"/>
              </a:rPr>
              <a:t> AI: dual-tier forecasting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9144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189280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1.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1874520" cy="2926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 b="0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POS + center + meal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9164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73152" cy="9144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837944"/>
            <a:ext cx="189280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2.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221992"/>
            <a:ext cx="1874520" cy="2926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 b="0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Lags, rolling means, discount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69164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73152" cy="9144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837944"/>
            <a:ext cx="189280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3. 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21992"/>
            <a:ext cx="1874520" cy="2926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 b="0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LightGBM + SARIMA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6916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41080" y="1691640"/>
            <a:ext cx="73152" cy="9144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42248" y="1837944"/>
            <a:ext cx="22128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4. 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221992"/>
            <a:ext cx="2194560" cy="2926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 b="0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FoodPulse AI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1947672"/>
            <a:ext cx="320040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947672"/>
            <a:ext cx="320040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947672"/>
            <a:ext cx="320040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24612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3246120"/>
            <a:ext cx="73152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3392424"/>
            <a:ext cx="45445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TIER 1 • SKU /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776472"/>
            <a:ext cx="4526279" cy="120700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192">
                <a:latin typeface="Aptos"/>
              </a:rPr>
              <a:t>LightGBM estimates weekly demand for individual meal items at each fulfillment center. Supports ingredient procurement and prep staffing.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24612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246120"/>
            <a:ext cx="73152" cy="182880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8" y="3392424"/>
            <a:ext cx="45445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TIER 2 • NETWORK / FLEET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3776472"/>
            <a:ext cx="4526279" cy="120700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396">
                <a:latin typeface="Aptos"/>
              </a:rPr>
              <a:t>SARIMA forecasts aggregated network demand over a longer horizon to inform commissary logistics and courier capacity.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623560"/>
            <a:ext cx="1014984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500" b="1">
                <a:solidFill>
                  <a:srgbClr val="122036"/>
                </a:solidFill>
                <a:latin typeface="Aptos"/>
              </a:defRPr>
            </a:pPr>
            <a:r>
              <a:rPr sz="1125">
                <a:latin typeface="Aptos"/>
              </a:rPr>
              <a:t>Operational output: translate forecasts into ingredient batching and rider dispatch planning.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07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 dirty="0">
                <a:latin typeface="Aptos"/>
              </a:rPr>
              <a:t>Model benchmark: </a:t>
            </a:r>
            <a:r>
              <a:rPr sz="2800" dirty="0" err="1">
                <a:latin typeface="Aptos"/>
              </a:rPr>
              <a:t>LightGBM</a:t>
            </a:r>
            <a:r>
              <a:rPr sz="2800" dirty="0">
                <a:latin typeface="Aptos"/>
              </a:rPr>
              <a:t> wins on holdout MAE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515600" cy="34747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677484"/>
                </a:solidFill>
                <a:latin typeface="Aptos"/>
              </a:defRPr>
            </a:pPr>
            <a:r>
              <a:rPr sz="950">
                <a:latin typeface="Aptos"/>
              </a:rPr>
              <a:t>Lower MAE means a smaller average absolute order-count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LightGBM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92807"/>
            <a:ext cx="4284162" cy="310896"/>
          </a:xfrm>
          <a:prstGeom prst="round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64522" y="1874519"/>
            <a:ext cx="914400" cy="29260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71.84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06040"/>
            <a:ext cx="5754160" cy="310896"/>
          </a:xfrm>
          <a:prstGeom prst="roundRect">
            <a:avLst/>
          </a:prstGeom>
          <a:solidFill>
            <a:srgbClr val="A5B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34520" y="2587752"/>
            <a:ext cx="914400" cy="29260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96.49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00984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Naive lag-1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319272"/>
            <a:ext cx="6141189" cy="310896"/>
          </a:xfrm>
          <a:prstGeom prst="roundRect">
            <a:avLst/>
          </a:prstGeom>
          <a:solidFill>
            <a:srgbClr val="A5B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21549" y="3300984"/>
            <a:ext cx="914400" cy="29260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102.98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14215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4-week mean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032503"/>
            <a:ext cx="6208577" cy="310896"/>
          </a:xfrm>
          <a:prstGeom prst="roundRect">
            <a:avLst/>
          </a:prstGeom>
          <a:solidFill>
            <a:srgbClr val="A5B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8937" y="4014215"/>
            <a:ext cx="914400" cy="29260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104.11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Poisson GLM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745736"/>
            <a:ext cx="6322479" cy="310896"/>
          </a:xfrm>
          <a:prstGeom prst="roundRect">
            <a:avLst/>
          </a:prstGeom>
          <a:solidFill>
            <a:srgbClr val="A5B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02839" y="4727448"/>
            <a:ext cx="914400" cy="29260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200" b="1">
                <a:solidFill>
                  <a:srgbClr val="263141"/>
                </a:solidFill>
                <a:latin typeface="Aptos"/>
              </a:defRPr>
            </a:pPr>
            <a:r>
              <a:rPr sz="900">
                <a:latin typeface="Aptos"/>
              </a:rPr>
              <a:t>106.02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87451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1984248"/>
            <a:ext cx="170078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30.3%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468879"/>
            <a:ext cx="170078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lower MAE vs lag-1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32004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2328" y="3310128"/>
            <a:ext cx="170078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31.0%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794760"/>
            <a:ext cx="170078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lower MAE vs 4-week 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71500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100" b="0">
                <a:solidFill>
                  <a:srgbClr val="677484"/>
                </a:solidFill>
                <a:latin typeface="Aptos"/>
              </a:defRPr>
            </a:pPr>
            <a:r>
              <a:rPr sz="1125">
                <a:latin typeface="Aptos"/>
              </a:rPr>
              <a:t>Holdout: Weeks 121–145. Source: project report, Table 5.1.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08 • LIGHTGBM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>
                <a:latin typeface="Aptos"/>
              </a:rPr>
              <a:t>Best model: 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0992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71.84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9456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MAE •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70992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4370B1"/>
                </a:solidFill>
                <a:latin typeface="Aptos"/>
              </a:defRPr>
            </a:pPr>
            <a:r>
              <a:rPr sz="1200">
                <a:latin typeface="Aptos"/>
              </a:rPr>
              <a:t>168.77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19456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RMSE •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70992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F2994A"/>
                </a:solidFill>
                <a:latin typeface="Aptos"/>
              </a:defRPr>
            </a:pPr>
            <a:r>
              <a:rPr sz="1200">
                <a:latin typeface="Aptos"/>
              </a:rPr>
              <a:t>0.7873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19456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R²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6002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9407" y="1709928"/>
            <a:ext cx="2295144" cy="43891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2600" b="1">
                <a:solidFill>
                  <a:srgbClr val="009691"/>
                </a:solidFill>
                <a:latin typeface="Aptos"/>
              </a:defRPr>
            </a:pPr>
            <a:r>
              <a:rPr sz="1200">
                <a:latin typeface="Aptos"/>
              </a:rPr>
              <a:t>18.2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7" y="2194560"/>
            <a:ext cx="2295144" cy="310896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ctr">
              <a:defRPr sz="1100" b="1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p99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461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246120"/>
            <a:ext cx="73152" cy="1874519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392424"/>
            <a:ext cx="47274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776472"/>
            <a:ext cx="4709159" cy="125272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300 trees • learning rate 0.05 • 31 leaves</a:t>
            </a:r>
            <a:br/>
            <a:r>
              <a:rPr sz="1600">
                <a:latin typeface="Aptos"/>
              </a:rPr>
              <a:t>80% row and feature subsampling</a:t>
            </a:r>
            <a:br/>
            <a:r>
              <a:rPr sz="1600">
                <a:latin typeface="Aptos"/>
              </a:rPr>
              <a:t>MSE objective on log1p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461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246120"/>
            <a:ext cx="73152" cy="1874519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392424"/>
            <a:ext cx="47274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WHY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776472"/>
            <a:ext cx="4709159" cy="125272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520">
                <a:latin typeface="Aptos"/>
              </a:rPr>
              <a:t>Tree boosting captures nonlinear relationships between recent demand, discounts, promotions and center/menu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0241280" cy="3657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300" b="0">
                <a:solidFill>
                  <a:srgbClr val="677484"/>
                </a:solidFill>
                <a:latin typeface="Aptos"/>
              </a:defRPr>
            </a:pPr>
            <a:r>
              <a:rPr sz="1000">
                <a:latin typeface="Aptos"/>
              </a:rPr>
              <a:t>Reported LightGBM training time: 6.02 seconds; serialized model size: 14.2 MB.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09 •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 dirty="0">
                <a:latin typeface="Aptos"/>
              </a:rPr>
              <a:t>What drives demand?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09344"/>
            <a:ext cx="31272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44.2%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3108960" cy="12070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Lag-1 orders (17.8%) + 4-week rolling mean (26.4%) of split 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73152" cy="1828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09344"/>
            <a:ext cx="31272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&gt;30.8%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3108960" cy="12070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Median demand lift when emailer and homepage promotion are combined.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73152" cy="182880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09344"/>
            <a:ext cx="312724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4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−1.41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08960" cy="1207007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476">
                <a:latin typeface="Aptos"/>
              </a:rPr>
              <a:t>Reported price elasticity for Indian staples such as rice bowls and biryani.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1033272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000" b="1">
                <a:solidFill>
                  <a:srgbClr val="122036"/>
                </a:solidFill>
                <a:latin typeface="Aptos"/>
              </a:defRPr>
            </a:pPr>
            <a:r>
              <a:rPr sz="1375">
                <a:latin typeface="Aptos"/>
              </a:rPr>
              <a:t>Operational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332720" cy="1417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spcAft>
                <a:spcPts val="800"/>
              </a:spcAft>
              <a:defRPr sz="150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•  Recent center–meal order history is the strongest predictive signal.</a:t>
            </a:r>
          </a:p>
          <a:p>
            <a:pPr>
              <a:spcAft>
                <a:spcPts val="800"/>
              </a:spcAft>
              <a:defRPr sz="150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•  Promotion timing and discount depth should be represented explicitly.</a:t>
            </a:r>
          </a:p>
          <a:p>
            <a:pPr>
              <a:spcAft>
                <a:spcPts val="800"/>
              </a:spcAft>
              <a:defRPr sz="150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•  Price sensitivity varies by cuisine; a single universal pricing response may be misleading.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10 • TIME-SERIES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 dirty="0">
                <a:latin typeface="Aptos"/>
              </a:rPr>
              <a:t>Macro forecasting: SARIMA for fleet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291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16459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55063"/>
            <a:ext cx="29443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SELECTED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2926080" cy="102412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SARIMA(0,1,2)(1,0,1)₄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645920"/>
          </a:xfrm>
          <a:prstGeom prst="rect">
            <a:avLst/>
          </a:prstGeom>
          <a:solidFill>
            <a:srgbClr val="43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655063"/>
            <a:ext cx="29443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HOLDOUT 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39112"/>
            <a:ext cx="2926080" cy="102412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600" b="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9.64% aggregate demand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291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6459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55063"/>
            <a:ext cx="294436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MODEL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2926080" cy="1024128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400" b="0">
                <a:solidFill>
                  <a:srgbClr val="263141"/>
                </a:solidFill>
                <a:latin typeface="Aptos"/>
              </a:defRPr>
            </a:pPr>
            <a:r>
              <a:rPr sz="1571">
                <a:latin typeface="Aptos"/>
              </a:rPr>
              <a:t>AIC = 2,956.03; first differencing improved stationarity.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0332720" cy="4572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000" b="1">
                <a:solidFill>
                  <a:srgbClr val="122036"/>
                </a:solidFill>
                <a:latin typeface="Aptos"/>
              </a:defRPr>
            </a:pPr>
            <a:r>
              <a:rPr sz="1250">
                <a:latin typeface="Aptos"/>
              </a:rPr>
              <a:t>How the macro tier is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241280" cy="1463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spcAft>
                <a:spcPts val="800"/>
              </a:spcAft>
              <a:defRPr sz="150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•  Aggregate weekly demand across fulfillment centers.</a:t>
            </a:r>
          </a:p>
          <a:p>
            <a:pPr>
              <a:spcAft>
                <a:spcPts val="800"/>
              </a:spcAft>
              <a:defRPr sz="150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•  Project network-wide volume to support procurement and courier capacity planning.</a:t>
            </a:r>
          </a:p>
          <a:p>
            <a:pPr>
              <a:spcAft>
                <a:spcPts val="800"/>
              </a:spcAft>
              <a:defRPr sz="1500">
                <a:solidFill>
                  <a:srgbClr val="263141"/>
                </a:solidFill>
                <a:latin typeface="Aptos"/>
              </a:defRPr>
            </a:pPr>
            <a:r>
              <a:rPr sz="1600">
                <a:latin typeface="Aptos"/>
              </a:rPr>
              <a:t>•  Report describes a 25-week forward projection with 95% confidence corridors.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10241280" cy="2286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Note: the report describes seasonal frequency s = 4 and a 12-week quarterly rhythm.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11 • CRITICAL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600" b="1">
                <a:solidFill>
                  <a:srgbClr val="122036"/>
                </a:solidFill>
                <a:latin typeface="Aptos"/>
              </a:defRPr>
            </a:pPr>
            <a:r>
              <a:rPr sz="2800">
                <a:latin typeface="Aptos"/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101852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 algn="r">
              <a:defRPr sz="900" b="0">
                <a:solidFill>
                  <a:srgbClr val="677484"/>
                </a:solidFill>
                <a:latin typeface="Aptos"/>
              </a:defRPr>
            </a:pPr>
            <a:r>
              <a:rPr sz="900"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486460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846320" cy="120700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300" b="0">
                <a:solidFill>
                  <a:srgbClr val="263141"/>
                </a:solidFill>
                <a:latin typeface="Aptos"/>
              </a:defRPr>
            </a:pPr>
            <a:r>
              <a:rPr sz="966">
                <a:latin typeface="Aptos"/>
              </a:rPr>
              <a:t>• Weekly data cannot model lunch vs. dinner peaks</a:t>
            </a:r>
            <a:br/>
            <a:r>
              <a:rPr sz="966">
                <a:latin typeface="Aptos"/>
              </a:rPr>
              <a:t>• Weather and traffic are not included</a:t>
            </a:r>
            <a:br/>
            <a:r>
              <a:rPr sz="966">
                <a:latin typeface="Aptos"/>
              </a:rPr>
              <a:t>• Fulfilled orders may hide unmet stock-out demand</a:t>
            </a:r>
            <a:br/>
            <a:r>
              <a:rPr sz="966">
                <a:latin typeface="Aptos"/>
              </a:rPr>
              <a:t>• New menu items have limited lag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63624"/>
            <a:ext cx="4864608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500" b="1">
                <a:solidFill>
                  <a:srgbClr val="122036"/>
                </a:solidFill>
                <a:latin typeface="Aptos"/>
              </a:defRPr>
            </a:pPr>
            <a:r>
              <a:rPr sz="900">
                <a:latin typeface="Aptos"/>
              </a:rPr>
              <a:t>FUTURE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4846320" cy="120700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300" b="0">
                <a:solidFill>
                  <a:srgbClr val="263141"/>
                </a:solidFill>
                <a:latin typeface="Aptos"/>
              </a:defRPr>
            </a:pPr>
            <a:r>
              <a:rPr sz="1047">
                <a:latin typeface="Aptos"/>
              </a:rPr>
              <a:t>• Temporal Fusion Transformer for multi-horizon forecasts</a:t>
            </a:r>
            <a:br/>
            <a:r>
              <a:rPr sz="1047">
                <a:latin typeface="Aptos"/>
              </a:rPr>
              <a:t>• Graph neural networks for neighboring-center effects</a:t>
            </a:r>
            <a:br/>
            <a:r>
              <a:rPr sz="1047">
                <a:latin typeface="Aptos"/>
              </a:rPr>
              <a:t>• Live weather ingestion for demand-aware safety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424160" cy="45720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2000" b="1">
                <a:solidFill>
                  <a:srgbClr val="122036"/>
                </a:solidFill>
                <a:latin typeface="Aptos"/>
              </a:defRPr>
            </a:pPr>
            <a:r>
              <a:rPr sz="1250">
                <a:latin typeface="Aptos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332720" cy="914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defRPr sz="1800" b="0">
                <a:solidFill>
                  <a:srgbClr val="263141"/>
                </a:solidFill>
                <a:latin typeface="Aptos"/>
              </a:defRPr>
            </a:pPr>
            <a:r>
              <a:rPr sz="1434">
                <a:latin typeface="Aptos"/>
              </a:rPr>
              <a:t>A dual-tier approach combines item-level responsiveness with network-level planning. On the reported holdout, LightGBM outperformed tested baselines while SARIMA delivered aggregate MAPE below 10%.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009691"/>
                </a:solidFill>
                <a:latin typeface="Aptos"/>
              </a:defRPr>
            </a:pPr>
            <a:r>
              <a:rPr sz="900">
                <a:latin typeface="Aptos"/>
              </a:rPr>
              <a:t>Thank you •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1375">
                <a:latin typeface="Aptos"/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417320"/>
            <a:ext cx="10332720" cy="59436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800" b="0">
                <a:solidFill>
                  <a:srgbClr val="CCDCE8"/>
                </a:solidFill>
                <a:latin typeface="Aptos"/>
              </a:defRPr>
            </a:pPr>
            <a:r>
              <a:rPr sz="1600">
                <a:latin typeface="Aptos"/>
              </a:rPr>
              <a:t>FoodPulse AI | Dual-Tier Hierarchical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966960" cy="100584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rPr sz="1600">
                <a:latin typeface="Aptos"/>
              </a:rPr>
              <a:t>Project team</a:t>
            </a:r>
            <a:br/>
            <a:r>
              <a:rPr sz="1600">
                <a:latin typeface="Aptos"/>
              </a:rPr>
              <a:t>Ishpreet Kaur (2427030110)  •  Aarushi Jain (2427030105)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 lIns="73152" tIns="36576" rIns="73152" bIns="36576"/>
          <a:lstStyle/>
          <a:p>
            <a:pPr>
              <a:defRPr sz="1000" b="0">
                <a:solidFill>
                  <a:srgbClr val="AABED0"/>
                </a:solidFill>
                <a:latin typeface="Aptos"/>
              </a:defRPr>
            </a:pPr>
            <a:r>
              <a:rPr sz="900">
                <a:latin typeface="Aptos"/>
              </a:rPr>
              <a:t>Data, methods and reported results summarized from the supplied research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1048</Words>
  <Application>Microsoft Macintosh PowerPoint</Application>
  <PresentationFormat>Widescreen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Aarushi Jain [CSE - 2024]</cp:lastModifiedBy>
  <cp:revision>3</cp:revision>
  <dcterms:created xsi:type="dcterms:W3CDTF">2013-01-27T09:14:16Z</dcterms:created>
  <dcterms:modified xsi:type="dcterms:W3CDTF">2026-10-26T06:29:26Z</dcterms:modified>
  <cp:category/>
</cp:coreProperties>
</file>